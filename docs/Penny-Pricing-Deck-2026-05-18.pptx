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2286000" cy="137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Penny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Pricing Proposal — Founder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  <a:latin typeface="Calibri"/>
              </a:rPr>
              <a:t>AI Customer Service Agent for the AU/NZ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Prepared 18 May 2026  •  AUD pricing  •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TL;DR —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Hybrid pricing (base + metered + overage) with one-time setup fee. 4 tiers. Target: 60%+ GM at full utilisation.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1828800"/>
            <a:ext cx="2560320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201168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65176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Hybrid: base + metered with 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8367" y="1828800"/>
            <a:ext cx="2560320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8367" y="201168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247" y="265176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Starter / Growth / Scale / Enterprise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828800"/>
            <a:ext cx="2560320" cy="2011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201168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65176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Lite $1.5K / Standard $3.5K / Enterprise $8K+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7647" y="1828800"/>
            <a:ext cx="2560320" cy="2011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647" y="201168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527" y="265176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5–10 anchor clients (case-study trade)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77295" cy="1737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Founder decisions needed (4):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Trial model  →  Recommend: paid pilot + case-study trade for anchors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n8n hosting  →  Recommend: migrate to Hostinger self-host before client #3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Phone numbers  →  Recommend: per-client dedicated Twilio AU local ($3/mo)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Voice cloning add-on  →  Recommend: $500–$1,500 one-time, Enterprise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Hard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Every Penny interaction burns money simultaneously across 4 metered providers.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16459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1645920"/>
            <a:ext cx="265176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" y="169164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RETELL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2286000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$0.07–$0.31</a:t>
            </a:r>
          </a:p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USD/min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07" y="310896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Voice infra + TTS +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647" y="16459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2647" y="1645920"/>
            <a:ext cx="265176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647" y="169164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ELEVENLABS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647" y="2286000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$0.08–$0.12</a:t>
            </a:r>
          </a:p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USD/min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647" y="310896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Chat agent (ConvAI)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6459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645920"/>
            <a:ext cx="265176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287" y="169164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TWILIO 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2286000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$0.01–$0.075</a:t>
            </a:r>
          </a:p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AUD/min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310896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Telephony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1927" y="16459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1927" y="1645920"/>
            <a:ext cx="265176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1927" y="169164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1927" y="2286000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Token-based</a:t>
            </a:r>
          </a:p>
          <a:p>
            <a:pPr algn="ctr"/>
            <a:r>
              <a:rPr sz="1800" b="1" i="0">
                <a:solidFill>
                  <a:srgbClr val="0D7377"/>
                </a:solidFill>
                <a:latin typeface="Calibri"/>
              </a:rPr>
              <a:t>($0.15–$10/M)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927" y="310896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Calibri"/>
              </a:rPr>
              <a:t>Embeddings / direct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11277295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605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  <a:latin typeface="Calibri"/>
              </a:rPr>
              <a:t>Why this is hard: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109728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•  Neither Retell nor ElevenLabs allows hard usage caps from upstream — providers will keep billing forever.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•  If pricing is wrong, ONE chatty client can drag account margin negative.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•  Per-seat pricing doesn't fit voice agents (no concept of "seats"). Pure usage-based scares buyers.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•  Solution: hybrid (predictable base + metered overage), with app-layer soft-caps to alert before runaway costs.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Cost Reality — What it costs Penny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Variable costs per minute, fixed platform costs per month, in AUD. Verified 2026-05-18.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0D7377"/>
                </a:solidFill>
                <a:latin typeface="Calibri"/>
              </a:rPr>
              <a:t>Variable cost per minute (AUD)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2801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AUD/min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Retell AI (voice all-in)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~USD $0.20 × FX 1.55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$0.31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Twilio inbound (85% mix)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AUD $0.01 × 85%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$0.009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Twilio outbound (15% mix)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AUD $0.0252 × 15%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$0.004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VOICE per-min TOTAL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$0.32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ElevenLabs ConvAI (chat)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USD $0.08 × FX 1.55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$0.124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0D7377"/>
                </a:solidFill>
                <a:latin typeface="Calibri"/>
              </a:rPr>
              <a:t>Fixed platform cost (AUD/month)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82880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2801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AUD/mo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Supabase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n8n (self-host)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Hostinger KVM 2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$14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ElevenLabs Pro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Base plan (floor)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$153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Vercel + OpenAI direct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$60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TOTAL fixed (10 clients)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÷ 10 = $27/client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$266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389120"/>
            <a:ext cx="5486400" cy="1645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5-min voice call costs Penny: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4400" b="1" i="0">
                <a:solidFill>
                  <a:srgbClr val="F39C12"/>
                </a:solidFill>
                <a:latin typeface="Calibri"/>
              </a:rPr>
              <a:t>~AUD $1.62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000" b="0" i="1">
                <a:solidFill>
                  <a:srgbClr val="F5F7FA"/>
                </a:solidFill>
                <a:latin typeface="Calibri"/>
              </a:rPr>
              <a:t>(Retell $1.55 + Twilio $0.05 + number share)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389120"/>
            <a:ext cx="5303520" cy="1645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0" i="0">
                <a:solidFill>
                  <a:srgbClr val="F5F7FA"/>
                </a:solidFill>
                <a:latin typeface="Calibri"/>
              </a:rPr>
              <a:t>5-min chat session costs Penny: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37760"/>
            <a:ext cx="5303520" cy="8229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~AUD $0.62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15000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000" b="0" i="1">
                <a:solidFill>
                  <a:srgbClr val="F5F7FA"/>
                </a:solidFill>
                <a:latin typeface="Calibri"/>
              </a:rPr>
              <a:t>(ElevenLabs ConvAI Standard tier × 5 min × FX 1.55)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Pricing Philosophy — Why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Aligned with the industry shift away from per-seat. Hybrid balances predictability with margin protection.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155448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1554480"/>
            <a:ext cx="2651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" y="16459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PER-SEAT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237744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Calibri"/>
              </a:rPr>
              <a:t>❌ Wrong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108960"/>
            <a:ext cx="2286000" cy="23774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1F3A5F"/>
                </a:solidFill>
                <a:latin typeface="Calibri"/>
              </a:rPr>
              <a:t>Voice agents have no 'seats'. End-customers, not users, drive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647" y="155448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2647" y="1554480"/>
            <a:ext cx="2651760" cy="5486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647" y="16459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PURE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647" y="237744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E68A00"/>
                </a:solidFill>
                <a:latin typeface="Calibri"/>
              </a:rPr>
              <a:t>⚠ Risky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527" y="3108960"/>
            <a:ext cx="2286000" cy="23774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1F3A5F"/>
                </a:solidFill>
                <a:latin typeface="Calibri"/>
              </a:rPr>
              <a:t>Unpredictable bills scare SMB buyers. Hard to forecast revenue.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55448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554480"/>
            <a:ext cx="2651760" cy="5486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287" y="16459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237744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E68A00"/>
                </a:solidFill>
                <a:latin typeface="Calibri"/>
              </a:rPr>
              <a:t>⚠ Too early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108960"/>
            <a:ext cx="2286000" cy="23774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1F3A5F"/>
                </a:solidFill>
                <a:latin typeface="Calibri"/>
              </a:rPr>
              <a:t>Per-result pricing needs proven ROI baseline. Penny is pre-launch.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1927" y="1554480"/>
            <a:ext cx="26517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1927" y="1554480"/>
            <a:ext cx="2651760" cy="548640"/>
          </a:xfrm>
          <a:prstGeom prst="rect">
            <a:avLst/>
          </a:prstGeom>
          <a:solidFill>
            <a:srgbClr val="2E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1927" y="16459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1927" y="237744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1" i="0">
                <a:solidFill>
                  <a:srgbClr val="2E864A"/>
                </a:solidFill>
                <a:latin typeface="Calibri"/>
              </a:rPr>
              <a:t>✓ Recommended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4807" y="3108960"/>
            <a:ext cx="2286000" cy="23774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1F3A5F"/>
                </a:solidFill>
                <a:latin typeface="Calibri"/>
              </a:rPr>
              <a:t>Base fee + metered overage. Predictable for buyer, margin-safe for Penny.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Source: SoftwareSeni — "SAAS pricing is shifting from per-seat to usage and outcome" (2024).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Setup Fees (One-Time, Per Client)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Recovers ~1 week of dev time per client. Justifies real onboarding effort and protects margin in month 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6583680"/>
                <a:gridCol w="201168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Fee (AUD)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Included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Lite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Standard KB (up to 20 docs), 1 Twilio AU local number, default web widget, 2 standard n8n workflows (booking+inquiry), 2hr training, 1 week support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~3 days dev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$3,500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Custom KB tuning, 1-2 numbers (local+mobile), branded widget, up to 5 custom n8n workflows, CRM hand-off, 5hr training, 2 weeks support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~5-7 days dev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$8,000+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Custom ElevenLabs voice clone, multi-agent flows, full CRM integration, dedicated workflow build, SLA, 4 weeks support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10+ days, sales-led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Why a setup fee matters: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•  Engineering rate baseline AUD $1,500–$2,500/day. A 'free setup' loses money on day 1 and signals low value.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•  Funds Twilio number provisioning, KB build, n8n workflow customisation, testing minutes burn.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•  Filters serious buyers — paying upfront raises commitment and reduces churn.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Monthly Subscription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Hybrid base + included usage + overage. Annual prepaid −15%. Annual billed monthly −10%.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1828800"/>
                <a:gridCol w="1828800"/>
                <a:gridCol w="2194560"/>
                <a:gridCol w="219456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Monthly (AUD)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Voice min inc.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Chat min inc.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Voice overage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Chat overage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$499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$1.20/min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$0.55/min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anchor="ctr" marL="45720" marR="45720" marT="22860" marB="22860">
                    <a:solidFill>
                      <a:srgbClr val="168A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$1,499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$1.00/min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$0.45/min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 marL="45720" marR="45720" marT="22860" marB="22860">
                    <a:solidFill>
                      <a:srgbClr val="1FA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$3,999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$0.85/min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$0.40/min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 marL="45720" marR="45720" marT="22860" marB="22860"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From $7,500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Negotiated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Negotiated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Value anchor — what a human CSR costs in Australia: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Full-time CSR: AUD $60K–$80K/year salary  =  $5,000–$6,600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1">
                <a:solidFill>
                  <a:srgbClr val="F5F7FA"/>
                </a:solidFill>
                <a:latin typeface="Calibri"/>
              </a:rPr>
              <a:t>Even Penny's Scale tier ($3,999/mo) replaces ~0.7 FTE while operating 24/7.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Unit Economics — Margins at Full Tier Utilisation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All clients sharing fixed platform costs (10-client allocation). Real-world utilisation typically 60–80%.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1828800"/>
                <a:gridCol w="1554480"/>
                <a:gridCol w="1554480"/>
                <a:gridCol w="182880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Variable COGS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Fixed alloc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COGS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GM %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$499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$126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$27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$153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$346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$1,499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$506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$27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$533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$966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$3,999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$1,550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$27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$1,577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$2,422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$7,500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$3,385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$27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$3,412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$4,088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anchor="ctr" marL="45720" marR="45720" marT="22860" marB="22860">
                    <a:solidFill>
                      <a:srgbClr val="FFE9B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Margin insights: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9728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Starter (69%), Growth (64%), and Scale (61%) all clear the 60% GM target at full utilisation.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At typical 70% utilisation, margins are even better — see Scenarios slide.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Enterprise (55%) drops because base price is conservative; real deals price for value (SLA, voice clone, custom integration), not COGS.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Overage markups: 2.6×–3.7× voice cost, 3.2×–4.4× chat cost → margin-protective above included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Scenarios — Real Client Usage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What a typical client looks like at each tier. Drives sales conversations.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54480"/>
                <a:gridCol w="1188720"/>
                <a:gridCol w="1188720"/>
                <a:gridCol w="1371600"/>
                <a:gridCol w="118872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Client profile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Voice min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Chat min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COGS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Light user (small office)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$499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$63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Active SMB (storage, dental)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$1,499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$378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Mid-market multi-location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$3,999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$1,134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Heavy enterprise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$7,500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$3,090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anchor="ctr" marL="45720" marR="45720" marT="22860" marB="22860">
                    <a:solidFill>
                      <a:srgbClr val="FFE9B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What this tells us: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9728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At realistic usage (not at-cap), gross margins are 70%+ for Starter through Scale.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These are sales-friendly numbers — Penny generates real margin without squeezing buyers.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•  Caveat: marketing campaigns or seasonal spikes can move a client into overage — that's where soft-caps protect 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Year 1 Projection — Anchor Client Ramp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Conservative model: 1 client month 1, ramping to 8–10. Mix: 50% Starter / 35% Growth / 15% Scale. 50% off month 1 (case-study trade).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188720"/>
                <a:gridCol w="1188720"/>
                <a:gridCol w="1188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M9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M12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Year Total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$687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$3,435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$7,557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$10,305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$13,053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$92,058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Setup fees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$1,588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$3,175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$3,175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$3,175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$31,750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Total revenue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$2,275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$6,610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$10,732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$10,305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$16,228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$123,808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Variable COGS (70% util)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$259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$777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$1,553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$2,071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$2,589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$18,259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Fixed costs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$266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$266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$266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$266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$266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$3,192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$1,750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$5,567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$8,913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$7,968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$13,373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$102,357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Gross margin %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 marL="45720" marR="45720" marT="22860" marB="22860">
                    <a:solidFill>
                      <a:srgbClr val="E8F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Calibri"/>
              </a:rPr>
              <a:t>Caveats: Excludes overage revenue (likely +10–20%). Excludes headcount cost. Year-1 Projection tab in the model has full month-by-month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Founder Decisions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Four calls only the founder should make. Each has a recommendation with reasoning.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1. Trial / Pilot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RECOMMEND: Paid pilot (50% off month 1) + case-study trade for first 5 anchors.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Avoids free-trial cost exposure. Filters serious buyers. Anchors get rate in exchange for testimonial + logo rights. Alternative: Free 14-day trial with 100 voice min cap — HIGH RISK without app-layer enforcement.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61488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2. n8n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RECOMMEND: Migrate to Hostinger KVM 2 ($8.99/mo USD) before client #3.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Current n8n Cloud Pro caps at 10K executions/mo — one Growth client easily uses 1K+. Self-host = unlimited executions for 80% less cost. Trade-off: ~1 day devops setup.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68496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3. Phone Number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6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RECOMMEND: Per-client dedicated Twilio AU local number ($3/mo each, bundled in tier).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45736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Better branding for end-customers. Cost is small. Existing client numbers supported via call forwarding only — no porting in setup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75504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4. Custom Voice Add-on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32704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RECOMMEND: $500–$1,500 one-time per cloned voice as published Enterprise SKU.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52744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ElevenLabs voice cloning is Pro-tier feature. Charge it as a premium upgrade — clear value, clear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Callouts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Six known PAYG / scaling risks. Mitigations baked into the model. Severity is colour-coded.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576072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 marL="45720" marR="45720" marT="22860" marB="22860">
                    <a:solidFill>
                      <a:srgbClr val="0D737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Concurrency cliff (Retell 20 cap)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45720" marR="45720" marT="22860" marB="22860">
                    <a:solidFill>
                      <a:srgbClr val="FBD5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Alert at 15 concurrent. Surcharge Enterprise for &gt;20 needed.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ElevenLabs $99/mo floor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45720" marR="45720" marT="22860" marB="22860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Build into Starter pricing or absorb during ramp.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n8n execution cap (Cloud Pro)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45720" marR="45720" marT="22860" marB="22860">
                    <a:solidFill>
                      <a:srgbClr val="FBD5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MIGRATE to self-host before client #3 — top mitigation.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Peak-hour PAYG explosion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45720" marR="45720" marT="22860" marB="22860">
                    <a:solidFill>
                      <a:srgbClr val="FBD5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App-layer soft-cap: alert client at 90% of included minutes.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Custom voice clone cost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45720" marR="45720" marT="22860" marB="22860">
                    <a:solidFill>
                      <a:srgbClr val="D6F5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Charge $500-$1.5K one-time as Enterprise add-on.</a:t>
                      </a:r>
                    </a:p>
                  </a:txBody>
                  <a:tcPr anchor="ctr" marL="45720" marR="45720" marT="22860" marB="2286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Outbound mobile = 3× local cost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45720" marR="45720" marT="22860" marB="22860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Separate 'Outbound Campaign' SKU with higher overage rate.</a:t>
                      </a:r>
                    </a:p>
                  </a:txBody>
                  <a:tcPr anchor="ctr" marL="45720" marR="45720" marT="22860" marB="2286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1">
                <a:solidFill>
                  <a:srgbClr val="4A5A6A"/>
                </a:solidFill>
                <a:latin typeface="Calibri"/>
              </a:rPr>
              <a:t>Full risk register in the XLSX model. Each risk has an owner and a trigger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Plan — Once Approved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Calibri"/>
              </a:rPr>
              <a:t>Sequence for getting Penny SAAS to market with anchor clients.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554480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554480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Founder approves pricing + trial model. Set up Stripe subscriptions (4 plans + setup fee SKUs).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121408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121408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Migrate n8n to Hostinger self-host. Build app-layer soft-cap (Supabase counter + Retell webhook on 90% of included minutes).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88336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688336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688336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Build client onboarding playbook — KB intake form, Twilio provisioning checklist, n8n workflow template library.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55264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55264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255264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255264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Reach out to 8–10 prospects (real estate, storage, dental, automotive service). Pitch the case-study trade.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22192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22192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822192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3822192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Onboard first 2 anchor clients. Document everything — what worked, what broke, what to charge extra for next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389120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4389120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Adjust tier ladder based on real usage. Capture testimonials. Publish first case study.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56048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56048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Month 4-6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956048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4956048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Self-serve sign-up for Starter tier on website. Sales-assisted for Growth+. Annual contract motion.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22976"/>
            <a:ext cx="137160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22976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Month 6+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5522976"/>
            <a:ext cx="9875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5522976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1F3A5F"/>
                </a:solidFill>
                <a:latin typeface="Calibri"/>
              </a:rPr>
              <a:t>Review pricing quarterly. Add adjacent SKUs (Outbound Campaign, Voice Clone, Custom Integration).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4A5A6A"/>
                </a:solidFill>
                <a:latin typeface="Calibri"/>
              </a:rPr>
              <a:t>Penny SAAS — Pricing Proposal (Founder Review)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Approve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  <a:latin typeface="Calibri"/>
              </a:rPr>
              <a:t>What we need from you to go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Sign off on tier ladder (Starter / Growth / Scale / Enterprise)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Sign off on setup fee packages (Lite / Standard / Enterprise)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Decide on trial model (recommended: paid pilot + case-study trade)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Approve n8n self-host migration (recommended)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5488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091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Approve target client list for outreach (8–10 names)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Confirm GST + invoicing setup with accountant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Once approved, the dev team can build the app-layer caps + Stripe billing inside 1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